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54880"/>
            <a:ext cx="12191695" cy="10972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64608"/>
            <a:ext cx="12191695" cy="109728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GitHub  +  Snowflake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9B5E8"/>
                </a:solidFill>
                <a:latin typeface="Calibri"/>
              </a:rPr>
              <a:t>Step-by-Step Git Integration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DDE6F0"/>
                </a:solidFill>
                <a:latin typeface="Calibri"/>
              </a:rPr>
              <a:t>Secret  →  API Integration  →  Git Repository  →  Fetch  →  Execute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DDE6F0"/>
                </a:solidFill>
                <a:latin typeface="Calibri"/>
              </a:rPr>
              <a:t>Run SQL scripts stored in GitHub directly inside Snowflake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We'll Build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1005840"/>
          </a:xfrm>
          <a:prstGeom prst="roundRect">
            <a:avLst/>
          </a:prstGeom>
          <a:solidFill>
            <a:srgbClr val="DD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664208"/>
            <a:ext cx="603504" cy="603504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7373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Set up role, warehouse, database &amp; schema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94960" cy="1005840"/>
          </a:xfrm>
          <a:prstGeom prst="roundRect">
            <a:avLst/>
          </a:prstGeom>
          <a:solidFill>
            <a:srgbClr val="DD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0" y="1664208"/>
            <a:ext cx="603504" cy="603504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73736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Store GitHub credentials in a SECRET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5394960" cy="1005840"/>
          </a:xfrm>
          <a:prstGeom prst="roundRect">
            <a:avLst/>
          </a:prstGeom>
          <a:solidFill>
            <a:srgbClr val="DD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898648"/>
            <a:ext cx="603504" cy="603504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/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9718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Create an API INTEGRATION for GitHub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97480"/>
            <a:ext cx="5394960" cy="1005840"/>
          </a:xfrm>
          <a:prstGeom prst="roundRect">
            <a:avLst/>
          </a:prstGeom>
          <a:solidFill>
            <a:srgbClr val="DD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2898648"/>
            <a:ext cx="603504" cy="603504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/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97180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Create a GIT REPOSITORY object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94960" cy="1005840"/>
          </a:xfrm>
          <a:prstGeom prst="roundRect">
            <a:avLst/>
          </a:prstGeom>
          <a:solidFill>
            <a:srgbClr val="DD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33088"/>
            <a:ext cx="603504" cy="603504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/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2062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FETCH, LIST files &amp; SHOW branches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31920"/>
            <a:ext cx="5394960" cy="1005840"/>
          </a:xfrm>
          <a:prstGeom prst="roundRect">
            <a:avLst/>
          </a:prstGeom>
          <a:solidFill>
            <a:srgbClr val="DD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4133088"/>
            <a:ext cx="603504" cy="603504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/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42062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EXECUTE IMMEDIATE a SQL file from Git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66360"/>
            <a:ext cx="5394960" cy="1005840"/>
          </a:xfrm>
          <a:prstGeom prst="roundRect">
            <a:avLst/>
          </a:prstGeom>
          <a:solidFill>
            <a:srgbClr val="DD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367528"/>
            <a:ext cx="603504" cy="603504"/>
          </a:xfrm>
          <a:prstGeom prst="ellipse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/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4406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Fix in GitHub → Fetch → Re-run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166360"/>
            <a:ext cx="5394960" cy="1005840"/>
          </a:xfrm>
          <a:prstGeom prst="roundRect">
            <a:avLst/>
          </a:prstGeom>
          <a:solidFill>
            <a:srgbClr val="DD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0" y="5367528"/>
            <a:ext cx="603504" cy="603504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/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54406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1F3A"/>
                </a:solidFill>
                <a:latin typeface="Calibri"/>
              </a:rPr>
              <a:t>Rotate secrets &amp;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How the Pieces Fit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DE6F0"/>
                </a:solidFill>
                <a:latin typeface="Calibri"/>
              </a:rPr>
              <a:t>Every object has one job in the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03120"/>
            <a:ext cx="2011680" cy="2194560"/>
          </a:xfrm>
          <a:prstGeom prst="round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331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GitHub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175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snowflake-git-integration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(source of truth)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50592" y="3017520"/>
            <a:ext cx="292608" cy="365760"/>
          </a:xfrm>
          <a:prstGeom prst="rightArrow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70632" y="2103120"/>
            <a:ext cx="2011680" cy="21945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2331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SECRET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2072" y="30175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Username + Personal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Access Token (PAT)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09744" y="3017520"/>
            <a:ext cx="292608" cy="365760"/>
          </a:xfrm>
          <a:prstGeom prst="rightArrow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9784" y="2103120"/>
            <a:ext cx="2011680" cy="21945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9784" y="2331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API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1224" y="30175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Trust: allowed URL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+ allowed secrets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68896" y="3017520"/>
            <a:ext cx="292608" cy="365760"/>
          </a:xfrm>
          <a:prstGeom prst="rightArrow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88936" y="2103120"/>
            <a:ext cx="2011680" cy="219456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88936" y="2331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GIT 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0376" y="30175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Local clone, acts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like a stage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528048" y="3017520"/>
            <a:ext cx="292608" cy="365760"/>
          </a:xfrm>
          <a:prstGeom prst="rightArrow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848088" y="2103120"/>
            <a:ext cx="2011680" cy="2194560"/>
          </a:xfrm>
          <a:prstGeom prst="round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48088" y="23317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EXECUTE IMMEDIATE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30175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Runs .SQL files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from a branch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B38"/>
                </a:solidFill>
                <a:latin typeface="Calibri"/>
              </a:rPr>
              <a:t>Snowflake reads from GitHub (read-only clone). You edit code in GitHub, then FETCH to sync.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B38"/>
                </a:solidFill>
                <a:latin typeface="Calibri"/>
              </a:rPr>
              <a:t>A Git repository object is browsed just like a stage: @repo/branches/&lt;branch&gt;/&lt;path&gt;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Environment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DE6F0"/>
                </a:solidFill>
                <a:latin typeface="Calibri"/>
              </a:rPr>
              <a:t>Role, warehouse, database and schema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5032"/>
                </a:solidFill>
                <a:latin typeface="Calibri"/>
              </a:rPr>
              <a:t>What it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ACCOUNTADMIN: </a:t>
            </a:r>
            <a:r>
              <a:rPr sz="1600">
                <a:solidFill>
                  <a:srgbClr val="222B38"/>
                </a:solidFill>
              </a:rPr>
              <a:t>Has rights to create integrations (CREATE INTEGRATION is account-level)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COMPUTE_WH: </a:t>
            </a:r>
            <a:r>
              <a:rPr sz="1600">
                <a:solidFill>
                  <a:srgbClr val="222B38"/>
                </a:solidFill>
              </a:rPr>
              <a:t>Warehouse that executes the SQL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Database: </a:t>
            </a:r>
            <a:r>
              <a:rPr sz="1600">
                <a:solidFill>
                  <a:srgbClr val="222B38"/>
                </a:solidFill>
              </a:rPr>
              <a:t>GIT_INTEGRATION_SNOWFLAKE_DB holds secret + repo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RAW_LAYER: </a:t>
            </a:r>
            <a:r>
              <a:rPr sz="1600">
                <a:solidFill>
                  <a:srgbClr val="222B38"/>
                </a:solidFill>
              </a:rPr>
              <a:t>Schema where the objects live; default PUBLIC is dropped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371600"/>
            <a:ext cx="6263640" cy="40233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9B5E8"/>
                </a:solidFill>
                <a:latin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691640"/>
            <a:ext cx="5806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USE ROLE ACCOUNTADMIN;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USE WAREHOUSE COMPUTE_WH;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CREATE OR REPLACE DATABASE GIT_INTEGRATION_SNOWFLAKE_DB;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DROP SCHEMA PUBLIC;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CREATE OR REPLACE SCHEMA RAW_LAYER;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5577840"/>
            <a:ext cx="6263640" cy="868680"/>
          </a:xfrm>
          <a:prstGeom prst="roundRect">
            <a:avLst/>
          </a:prstGeom>
          <a:solidFill>
            <a:srgbClr val="FFF4E5"/>
          </a:solidFill>
          <a:ln>
            <a:solidFill>
              <a:srgbClr val="F0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5641848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8"/>
                </a:solidFill>
                <a:latin typeface="Calibri"/>
              </a:rPr>
              <a:t>TIP: In production, use a dedicated role with CREATE INTEGRATION granted instead of ACCOUNTADMIN.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Create a SECRET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DE6F0"/>
                </a:solidFill>
                <a:latin typeface="Calibri"/>
              </a:rPr>
              <a:t>Securely store GitHub credentials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5032"/>
                </a:solidFill>
                <a:latin typeface="Calibri"/>
              </a:rPr>
              <a:t>What it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SECRET: </a:t>
            </a:r>
            <a:r>
              <a:rPr sz="1600">
                <a:solidFill>
                  <a:srgbClr val="222B38"/>
                </a:solidFill>
              </a:rPr>
              <a:t>Encrypted Snowflake object; value is never shown back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TYPE = PASSWORD: </a:t>
            </a:r>
            <a:r>
              <a:rPr sz="1600">
                <a:solidFill>
                  <a:srgbClr val="222B38"/>
                </a:solidFill>
              </a:rPr>
              <a:t>Stores a username/password pair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USERNAME: </a:t>
            </a:r>
            <a:r>
              <a:rPr sz="1600">
                <a:solidFill>
                  <a:srgbClr val="222B38"/>
                </a:solidFill>
              </a:rPr>
              <a:t>Your GitHub username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PASSWORD: </a:t>
            </a:r>
            <a:r>
              <a:rPr sz="1600">
                <a:solidFill>
                  <a:srgbClr val="222B38"/>
                </a:solidFill>
              </a:rPr>
              <a:t>GitHub Personal Access Token (PAT), not your login password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Needed for: </a:t>
            </a:r>
            <a:r>
              <a:rPr sz="1600">
                <a:solidFill>
                  <a:srgbClr val="222B38"/>
                </a:solidFill>
              </a:rPr>
              <a:t>Private repos. Public repos can skip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371600"/>
            <a:ext cx="6263640" cy="40233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9B5E8"/>
                </a:solidFill>
                <a:latin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691640"/>
            <a:ext cx="5806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CREATE OR REPLACE SECRET GIT_INTEGRATION_SNOWFLAKE_SECRET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TYPE     = PASSWORD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USERNAME = '&lt;github_username&gt;'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PASSWORD = '&lt;github_personal_access_token&gt;';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SHOW SECRETS IN SCHEMA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GIT_INTEGRATION_SNOWFLAKE_DB.RAW_LAYER;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DESC SECRET GIT_INTEGRATION_SNOWFLAKE_DB.RAW_LAYER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.GIT_INTEGRATION_SNOWFLAKE_SECRET;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5577840"/>
            <a:ext cx="6263640" cy="868680"/>
          </a:xfrm>
          <a:prstGeom prst="roundRect">
            <a:avLst/>
          </a:prstGeom>
          <a:solidFill>
            <a:srgbClr val="FFF4E5"/>
          </a:solidFill>
          <a:ln>
            <a:solidFill>
              <a:srgbClr val="F0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5641848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8"/>
                </a:solidFill>
                <a:latin typeface="Calibri"/>
              </a:rPr>
              <a:t>TIP: Blur or replace the token before recording. Never show a real PAT on screen.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Generating a GitHub Personal Access 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DE6F0"/>
                </a:solidFill>
                <a:latin typeface="Calibri"/>
              </a:rPr>
              <a:t>Done on github.com before creating the secret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/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9047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GitHub → Profile picture → Settings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21992"/>
            <a:ext cx="548640" cy="548640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/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95144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Developer settings → Personal access tokens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26664"/>
            <a:ext cx="548640" cy="548640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/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99816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Fine-grained tokens (github_pat_…) or Classic (ghp_…)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31336"/>
            <a:ext cx="548640" cy="548640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/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04488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Select repository: snowflake-git-integration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636008"/>
            <a:ext cx="548640" cy="548640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/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091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Permission: Contents → Read-only (enough for FETCH)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440680"/>
            <a:ext cx="548640" cy="548640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/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513832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0B1F3A"/>
                </a:solidFill>
                <a:latin typeface="Calibri"/>
              </a:rPr>
              <a:t>Set an expiry date → Generate → copy once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645920"/>
            <a:ext cx="3657600" cy="384048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82880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Token prefixes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github_pat_…  fine-grained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ghp_…  classic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The token goes in the PASSWORD field of the secret.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Create an API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DE6F0"/>
                </a:solidFill>
                <a:latin typeface="Calibri"/>
              </a:rPr>
              <a:t>Tells Snowflake which Git URLs and secrets it may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5032"/>
                </a:solidFill>
                <a:latin typeface="Calibri"/>
              </a:rPr>
              <a:t>What it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API_PROVIDER: </a:t>
            </a:r>
            <a:r>
              <a:rPr sz="1600">
                <a:solidFill>
                  <a:srgbClr val="222B38"/>
                </a:solidFill>
              </a:rPr>
              <a:t>'git_https_api' = connecting to Git over HTTPS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API_ALLOWED_PREFIXES: </a:t>
            </a:r>
            <a:r>
              <a:rPr sz="1600">
                <a:solidFill>
                  <a:srgbClr val="222B38"/>
                </a:solidFill>
              </a:rPr>
              <a:t>Allow-list of repo URLs; anything else is blocked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ALLOWED_AUTHENTICATION_SECRETS: </a:t>
            </a:r>
            <a:r>
              <a:rPr sz="1600">
                <a:solidFill>
                  <a:srgbClr val="222B38"/>
                </a:solidFill>
              </a:rPr>
              <a:t>Secrets this integration may use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ENABLED = TRUE: </a:t>
            </a:r>
            <a:r>
              <a:rPr sz="1600">
                <a:solidFill>
                  <a:srgbClr val="222B38"/>
                </a:solidFill>
              </a:rPr>
              <a:t>Turns the integration on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Account-level: </a:t>
            </a:r>
            <a:r>
              <a:rPr sz="1600">
                <a:solidFill>
                  <a:srgbClr val="222B38"/>
                </a:solidFill>
              </a:rPr>
              <a:t>Not inside a database/schema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371600"/>
            <a:ext cx="6263640" cy="40233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9B5E8"/>
                </a:solidFill>
                <a:latin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691640"/>
            <a:ext cx="5806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CREATE OR REPLACE API INTEGRATION GIT_INTEGRATION_SNOWFLAKE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API_PROVIDER = 'git_https_api'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API_ALLOWED_PREFIXES =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  ('https://github.com/Ajayacme339/snowflake-git-integration.git')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ALLOWED_AUTHENTICATION_SECRETS =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  (GIT_INTEGRATION_SNOWFLAKE_DB.RAW_LAYER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     .GIT_INTEGRATION_SNOWFLAKE_SECRET)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ENABLED = TRUE;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DESC INTEGRATION GIT_INTEGRATION_SNOWFLAKE;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5577840"/>
            <a:ext cx="6263640" cy="868680"/>
          </a:xfrm>
          <a:prstGeom prst="roundRect">
            <a:avLst/>
          </a:prstGeom>
          <a:solidFill>
            <a:srgbClr val="FFF4E5"/>
          </a:solidFill>
          <a:ln>
            <a:solidFill>
              <a:srgbClr val="F0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5641848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8"/>
                </a:solidFill>
                <a:latin typeface="Calibri"/>
              </a:rPr>
              <a:t>TIP: Use a prefix like 'https://github.com/Ajayacme339' to allow all repos under your account.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Create the GIT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DE6F0"/>
                </a:solidFill>
                <a:latin typeface="Calibri"/>
              </a:rPr>
              <a:t>A Snowflake clone of your GitHub repo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5032"/>
                </a:solidFill>
                <a:latin typeface="Calibri"/>
              </a:rPr>
              <a:t>What it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GIT REPOSITORY: </a:t>
            </a:r>
            <a:r>
              <a:rPr sz="1600">
                <a:solidFill>
                  <a:srgbClr val="222B38"/>
                </a:solidFill>
              </a:rPr>
              <a:t>Schema-level object mirroring the remote repo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Quoted name: </a:t>
            </a:r>
            <a:r>
              <a:rPr sz="1600">
                <a:solidFill>
                  <a:srgbClr val="222B38"/>
                </a:solidFill>
              </a:rPr>
              <a:t>"snowflake-git-integration" because of the hyphens; keep quotes everywhere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API_INTEGRATION: </a:t>
            </a:r>
            <a:r>
              <a:rPr sz="1600">
                <a:solidFill>
                  <a:srgbClr val="222B38"/>
                </a:solidFill>
              </a:rPr>
              <a:t>Links to the trust object from Step 3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ORIGIN: </a:t>
            </a:r>
            <a:r>
              <a:rPr sz="1600">
                <a:solidFill>
                  <a:srgbClr val="222B38"/>
                </a:solidFill>
              </a:rPr>
              <a:t>HTTPS URL of the GitHub repo; must match an allowed prefix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GIT_CREDENTIALS: </a:t>
            </a:r>
            <a:r>
              <a:rPr sz="1600">
                <a:solidFill>
                  <a:srgbClr val="222B38"/>
                </a:solidFill>
              </a:rPr>
              <a:t>Points to the secret; required for private repos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371600"/>
            <a:ext cx="6263640" cy="40233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9B5E8"/>
                </a:solidFill>
                <a:latin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691640"/>
            <a:ext cx="5806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CREATE OR REPLACE GIT REPOSITORY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GIT_INTEGRATION_SNOWFLAKE_DB.RAW_LAYER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  ."snowflake-git-integration"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API_INTEGRATION = GIT_INTEGRATION_SNOWFLAKE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-- GIT_CREDENTIALS = (GIT_INTEGRATION_SNOWFLAKE_DB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--   .RAW_LAYER.GIT_INTEGRATION_SNOWFLAKE_SECRET)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ORIGIN =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  'https://github.com/Ajayacme339/snowflake-git-integration.git';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5577840"/>
            <a:ext cx="6263640" cy="868680"/>
          </a:xfrm>
          <a:prstGeom prst="roundRect">
            <a:avLst/>
          </a:prstGeom>
          <a:solidFill>
            <a:srgbClr val="FFF4E5"/>
          </a:solidFill>
          <a:ln>
            <a:solidFill>
              <a:srgbClr val="F0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5641848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8"/>
                </a:solidFill>
                <a:latin typeface="Calibri"/>
              </a:rPr>
              <a:t>TIP: In the script GIT_CREDENTIALS is commented out, which works for a public repo. Uncomment it for private repos.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FETCH: Pull the Latest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DE6F0"/>
                </a:solidFill>
                <a:latin typeface="Calibri"/>
              </a:rPr>
              <a:t>Sync Snowflake's clone with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5032"/>
                </a:solidFill>
                <a:latin typeface="Calibri"/>
              </a:rPr>
              <a:t>What it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FETCH: </a:t>
            </a:r>
            <a:r>
              <a:rPr sz="1600">
                <a:solidFill>
                  <a:srgbClr val="222B38"/>
                </a:solidFill>
              </a:rPr>
              <a:t>Downloads new commits, branches and tags from GitHub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Read-only: </a:t>
            </a:r>
            <a:r>
              <a:rPr sz="1600">
                <a:solidFill>
                  <a:srgbClr val="222B38"/>
                </a:solidFill>
              </a:rPr>
              <a:t>Snowflake does not push back to GitHub from here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When: </a:t>
            </a:r>
            <a:r>
              <a:rPr sz="1600">
                <a:solidFill>
                  <a:srgbClr val="222B38"/>
                </a:solidFill>
              </a:rPr>
              <a:t>After every commit/push in GitHub you want to use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Not automatic: </a:t>
            </a:r>
            <a:r>
              <a:rPr sz="1600">
                <a:solidFill>
                  <a:srgbClr val="222B38"/>
                </a:solidFill>
              </a:rPr>
              <a:t>Run it manually or from a scheduled TASK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371600"/>
            <a:ext cx="6263640" cy="40233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9B5E8"/>
                </a:solidFill>
                <a:latin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691640"/>
            <a:ext cx="5806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ALTER GIT REPOSITORY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GIT_INTEGRATION_SNOWFLAKE_DB.RAW_LAYER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  ."snowflake-git-integration"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FETCH;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Explore the Repo: LIST and SHOW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DE6F0"/>
                </a:solidFill>
                <a:latin typeface="Calibri"/>
              </a:rPr>
              <a:t>Browse the repo like a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5032"/>
                </a:solidFill>
                <a:latin typeface="Calibri"/>
              </a:rPr>
              <a:t>What it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@repo: </a:t>
            </a:r>
            <a:r>
              <a:rPr sz="1600">
                <a:solidFill>
                  <a:srgbClr val="222B38"/>
                </a:solidFill>
              </a:rPr>
              <a:t>The repo is referenced with @ like a stage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/branches/main/: </a:t>
            </a:r>
            <a:r>
              <a:rPr sz="1600">
                <a:solidFill>
                  <a:srgbClr val="222B38"/>
                </a:solidFill>
              </a:rPr>
              <a:t>Path to the branch; also /tags/&lt;tag&gt;/ and /commits/&lt;sha&gt;/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LIST: </a:t>
            </a:r>
            <a:r>
              <a:rPr sz="1600">
                <a:solidFill>
                  <a:srgbClr val="222B38"/>
                </a:solidFill>
              </a:rPr>
              <a:t>Shows files: name, size, md5, last_modified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SHOW GIT BRANCHES: </a:t>
            </a:r>
            <a:r>
              <a:rPr sz="1600">
                <a:solidFill>
                  <a:srgbClr val="222B38"/>
                </a:solidFill>
              </a:rPr>
              <a:t>Lists branches and their latest commit hash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371600"/>
            <a:ext cx="6263640" cy="40233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9B5E8"/>
                </a:solidFill>
                <a:latin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691640"/>
            <a:ext cx="5806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-- List files on the main branch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LIST @GIT_INTEGRATION_SNOWFLAKE_DB.RAW_LAYER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."snowflake-git-integration"/branches/main/;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-- Show all branches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SHOW GIT BRANCHES IN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GIT_INTEGRATION_SNOWFLAKE_DB.RAW_LAYER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  ."snowflake-git-integration";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5577840"/>
            <a:ext cx="6263640" cy="868680"/>
          </a:xfrm>
          <a:prstGeom prst="roundRect">
            <a:avLst/>
          </a:prstGeom>
          <a:solidFill>
            <a:srgbClr val="FFF4E5"/>
          </a:solidFill>
          <a:ln>
            <a:solidFill>
              <a:srgbClr val="F0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5641848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8"/>
                </a:solidFill>
                <a:latin typeface="Calibri"/>
              </a:rPr>
              <a:t>TIP: Also try SHOW GIT TAGS IN &lt;repo&gt;;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EXECUTE IMMEDIATE FROM 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DE6F0"/>
                </a:solidFill>
                <a:latin typeface="Calibri"/>
              </a:rPr>
              <a:t>Run a SQL script stored in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5032"/>
                </a:solidFill>
                <a:latin typeface="Calibri"/>
              </a:rPr>
              <a:t>What it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EXECUTE IMMEDIATE FROM: </a:t>
            </a:r>
            <a:r>
              <a:rPr sz="1600">
                <a:solidFill>
                  <a:srgbClr val="222B38"/>
                </a:solidFill>
              </a:rPr>
              <a:t>Reads the file and runs every statement in it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CUSTOMER_LOAD.SQL: </a:t>
            </a:r>
            <a:r>
              <a:rPr sz="1600">
                <a:solidFill>
                  <a:srgbClr val="222B38"/>
                </a:solidFill>
              </a:rPr>
              <a:t>Script in the main branch of the repo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Path is case-sensitive: </a:t>
            </a:r>
            <a:r>
              <a:rPr sz="1600">
                <a:solidFill>
                  <a:srgbClr val="222B38"/>
                </a:solidFill>
              </a:rPr>
              <a:t>Must match the file name in GitHub exactly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Version control: </a:t>
            </a:r>
            <a:r>
              <a:rPr sz="1600">
                <a:solidFill>
                  <a:srgbClr val="222B38"/>
                </a:solidFill>
              </a:rPr>
              <a:t>Code lives in Git; Snowflake only runs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371600"/>
            <a:ext cx="6263640" cy="40233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9B5E8"/>
                </a:solidFill>
                <a:latin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691640"/>
            <a:ext cx="5806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EXECUTE IMMEDIATE FROM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@GIT_INTEGRATION_SNOWFLAKE_DB.RAW_LAYER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  ."snowflake-git-integration"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  /branches/main/CUSTOMER_LOAD.SQL;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5577840"/>
            <a:ext cx="6263640" cy="868680"/>
          </a:xfrm>
          <a:prstGeom prst="roundRect">
            <a:avLst/>
          </a:prstGeom>
          <a:solidFill>
            <a:srgbClr val="FFF4E5"/>
          </a:solidFill>
          <a:ln>
            <a:solidFill>
              <a:srgbClr val="F0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5641848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8"/>
                </a:solidFill>
                <a:latin typeface="Calibri"/>
              </a:rPr>
              <a:t>TIP: Demo idea: let the first run fail on purpose to show the fix loop on the next slide.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Dev Loop: Error → Fix in GitHub → Fetch → Re-run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DE6F0"/>
                </a:solidFill>
                <a:latin typeface="Calibri"/>
              </a:rPr>
              <a:t>The workflow you show live in the video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468880" cy="17373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1.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EXECUTE IMMEDIATE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fails with an error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971800" y="2148840"/>
            <a:ext cx="365760" cy="365760"/>
          </a:xfrm>
          <a:prstGeom prst="rightArrow">
            <a:avLst/>
          </a:prstGeom>
          <a:solidFill>
            <a:srgbClr val="22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463040"/>
            <a:ext cx="2468880" cy="1737360"/>
          </a:xfrm>
          <a:prstGeom prst="round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2. Fix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Edit CUSTOMER_LOAD.SQL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in GitHub &amp; commit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97880" y="2148840"/>
            <a:ext cx="365760" cy="365760"/>
          </a:xfrm>
          <a:prstGeom prst="rightArrow">
            <a:avLst/>
          </a:prstGeom>
          <a:solidFill>
            <a:srgbClr val="22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1463040"/>
            <a:ext cx="2468880" cy="1737360"/>
          </a:xfrm>
          <a:prstGeom prst="round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3. Fetch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ALTER GIT REPOSITORY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… FETCH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23960" y="2148840"/>
            <a:ext cx="365760" cy="365760"/>
          </a:xfrm>
          <a:prstGeom prst="rightArrow">
            <a:avLst/>
          </a:prstGeom>
          <a:solidFill>
            <a:srgbClr val="222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235440" y="1463040"/>
            <a:ext cx="2468880" cy="17373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6002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4. Re-run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945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EXECUTE IMMEDIATE</a:t>
            </a:r>
          </a:p>
          <a:p>
            <a:pPr algn="ctr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succeeds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520440"/>
            <a:ext cx="11247120" cy="301752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9B5E8"/>
                </a:solidFill>
                <a:latin typeface="Calibri"/>
              </a:rPr>
              <a:t>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840480"/>
            <a:ext cx="10789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-- Fetch latest change after fixing the file in GitHub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ALTER GIT REPOSITORY GIT_INTEGRATION_SNOWFLAKE_DB.RAW_LAYER."snowflake-git-integration" FETCH;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/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-- Run the SQL script again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EXECUTE IMMEDIATE FROM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@GIT_INTEGRATION_SNOWFLAKE_DB.RAW_LAYER."snowflake-git-integration"/branches/main/CUSTOMER_LOAD.SQL;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228600"/>
            <a:ext cx="594360" cy="594360"/>
          </a:xfrm>
          <a:prstGeom prst="ellipse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Rotate / Update the Secret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62179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DDE6F0"/>
                </a:solidFill>
                <a:latin typeface="Calibri"/>
              </a:rPr>
              <a:t>When the PAT expires or is regenerated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05032"/>
                </a:solidFill>
                <a:latin typeface="Calibri"/>
              </a:rPr>
              <a:t>What it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ALTER SECRET: </a:t>
            </a:r>
            <a:r>
              <a:rPr sz="1600">
                <a:solidFill>
                  <a:srgbClr val="222B38"/>
                </a:solidFill>
              </a:rPr>
              <a:t>Updates credentials in place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No re-creation: </a:t>
            </a:r>
            <a:r>
              <a:rPr sz="1600">
                <a:solidFill>
                  <a:srgbClr val="222B38"/>
                </a:solidFill>
              </a:rPr>
              <a:t>Integration and repo keep working with the new token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0B1F3A"/>
                </a:solidFill>
              </a:rPr>
              <a:t>▸ Good habit: </a:t>
            </a:r>
            <a:r>
              <a:rPr sz="1600">
                <a:solidFill>
                  <a:srgbClr val="222B38"/>
                </a:solidFill>
              </a:rPr>
              <a:t>Short-lived tokens, rotated regularly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1371600"/>
            <a:ext cx="6263640" cy="4023360"/>
          </a:xfrm>
          <a:prstGeom prst="roundRect">
            <a:avLst>
              <a:gd name="adj" fmla="val 4000"/>
            </a:avLst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29B5E8"/>
                </a:solidFill>
                <a:latin typeface="Calibri"/>
              </a:rPr>
              <a:t>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691640"/>
            <a:ext cx="5806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ALTER SECRET GIT_INTEGRATION_SNOWFLAKE_DB.RAW_LAYER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  .GIT_INTEGRATION_SNOWFLAKE_SECRET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SET USERNAME = '&lt;github_username&gt;',</a:t>
            </a:r>
          </a:p>
          <a:p>
            <a:pPr algn="l">
              <a:spcAft>
                <a:spcPts val="100"/>
              </a:spcAft>
            </a:pPr>
            <a:r>
              <a:rPr sz="1400" b="0">
                <a:solidFill>
                  <a:srgbClr val="A6E3A1"/>
                </a:solidFill>
                <a:latin typeface="Consolas"/>
              </a:rPr>
              <a:t>      PASSWORD = '&lt;new_personal_access_token&gt;';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5577840"/>
            <a:ext cx="6263640" cy="868680"/>
          </a:xfrm>
          <a:prstGeom prst="roundRect">
            <a:avLst/>
          </a:prstGeom>
          <a:solidFill>
            <a:srgbClr val="FFF4E5"/>
          </a:solidFill>
          <a:ln>
            <a:solidFill>
              <a:srgbClr val="F0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5641848"/>
            <a:ext cx="5943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8"/>
                </a:solidFill>
                <a:latin typeface="Calibri"/>
              </a:rPr>
              <a:t>TIP: Revoke the old token in GitHub after rotating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Cheat Sheet: Object → Purpose → Command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840480"/>
                <a:gridCol w="4846320"/>
              </a:tblGrid>
              <a:tr h="6057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Object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Key command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B38"/>
                          </a:solidFill>
                        </a:rPr>
                        <a:t>SECRET</a:t>
                      </a:r>
                    </a:p>
                  </a:txBody>
                  <a:tcPr>
                    <a:solidFill>
                      <a:srgbClr val="DD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B38"/>
                          </a:solidFill>
                        </a:rPr>
                        <a:t>Stores GitHub username + PAT</a:t>
                      </a:r>
                    </a:p>
                  </a:txBody>
                  <a:tcPr>
                    <a:solidFill>
                      <a:srgbClr val="DD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onsolas"/>
                        </a:rPr>
                        <a:t>CREATE / ALTER SECRET</a:t>
                      </a:r>
                    </a:p>
                  </a:txBody>
                  <a:tcPr>
                    <a:solidFill>
                      <a:srgbClr val="DDE6F0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B38"/>
                          </a:solidFill>
                        </a:rPr>
                        <a:t>API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B38"/>
                          </a:solidFill>
                        </a:rPr>
                        <a:t>Allow-list of Git URLs + secrets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onsolas"/>
                        </a:rPr>
                        <a:t>CREATE API INTEGRATION … 'git_https_api'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B38"/>
                          </a:solidFill>
                        </a:rPr>
                        <a:t>GIT REPOSITORY</a:t>
                      </a:r>
                    </a:p>
                  </a:txBody>
                  <a:tcPr>
                    <a:solidFill>
                      <a:srgbClr val="DD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B38"/>
                          </a:solidFill>
                        </a:rPr>
                        <a:t>Snowflake clone of the repo</a:t>
                      </a:r>
                    </a:p>
                  </a:txBody>
                  <a:tcPr>
                    <a:solidFill>
                      <a:srgbClr val="DD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onsolas"/>
                        </a:rPr>
                        <a:t>CREATE GIT REPOSITORY … ORIGIN</a:t>
                      </a:r>
                    </a:p>
                  </a:txBody>
                  <a:tcPr>
                    <a:solidFill>
                      <a:srgbClr val="DDE6F0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B38"/>
                          </a:solidFill>
                        </a:rPr>
                        <a:t>FETCH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B38"/>
                          </a:solidFill>
                        </a:rPr>
                        <a:t>Sync latest commits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onsolas"/>
                        </a:rPr>
                        <a:t>ALTER GIT REPOSITORY … FETCH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B38"/>
                          </a:solidFill>
                        </a:rPr>
                        <a:t>LIST</a:t>
                      </a:r>
                    </a:p>
                  </a:txBody>
                  <a:tcPr>
                    <a:solidFill>
                      <a:srgbClr val="DD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B38"/>
                          </a:solidFill>
                        </a:rPr>
                        <a:t>Browse files in a branch</a:t>
                      </a:r>
                    </a:p>
                  </a:txBody>
                  <a:tcPr>
                    <a:solidFill>
                      <a:srgbClr val="DD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onsolas"/>
                        </a:rPr>
                        <a:t>LIST @repo/branches/main/</a:t>
                      </a:r>
                    </a:p>
                  </a:txBody>
                  <a:tcPr>
                    <a:solidFill>
                      <a:srgbClr val="DDE6F0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B38"/>
                          </a:solidFill>
                        </a:rPr>
                        <a:t>SHOW BRANCHES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B38"/>
                          </a:solidFill>
                        </a:rPr>
                        <a:t>See branches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onsolas"/>
                        </a:rPr>
                        <a:t>SHOW GIT BRANCHES IN repo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22B38"/>
                          </a:solidFill>
                        </a:rPr>
                        <a:t>EXECUTE IMMEDIATE</a:t>
                      </a:r>
                    </a:p>
                  </a:txBody>
                  <a:tcPr>
                    <a:solidFill>
                      <a:srgbClr val="DD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B38"/>
                          </a:solidFill>
                        </a:rPr>
                        <a:t>Run a .SQL file from Git</a:t>
                      </a:r>
                    </a:p>
                  </a:txBody>
                  <a:tcPr>
                    <a:solidFill>
                      <a:srgbClr val="DDE6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B38"/>
                          </a:solidFill>
                          <a:latin typeface="Consolas"/>
                        </a:rPr>
                        <a:t>EXECUTE IMMEDIATE FROM @repo/…/file.sql</a:t>
                      </a:r>
                    </a:p>
                  </a:txBody>
                  <a:tcPr>
                    <a:solidFill>
                      <a:srgbClr val="DDE6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82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Best Practices &amp;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0B1F3A"/>
                </a:solidFill>
              </a:rPr>
              <a:t>▸ Never hard-code tokens in scripts you commit or show: </a:t>
            </a:r>
            <a:r>
              <a:rPr sz="1900">
                <a:solidFill>
                  <a:srgbClr val="222B38"/>
                </a:solidFill>
              </a:rPr>
              <a:t>use placeholders on screen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1F3A"/>
                </a:solidFill>
              </a:rPr>
              <a:t>▸ Least-privilege PAT: </a:t>
            </a:r>
            <a:r>
              <a:rPr sz="1900">
                <a:solidFill>
                  <a:srgbClr val="222B38"/>
                </a:solidFill>
              </a:rPr>
              <a:t>fine-grained, single repo, Contents: Read-only, with expiry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1F3A"/>
                </a:solidFill>
              </a:rPr>
              <a:t>▸ Dedicated role: </a:t>
            </a:r>
            <a:r>
              <a:rPr sz="1900">
                <a:solidFill>
                  <a:srgbClr val="222B38"/>
                </a:solidFill>
              </a:rPr>
              <a:t>grant USAGE on integration + CREATE GIT REPOSITORY instead of ACCOUNTADMIN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1F3A"/>
                </a:solidFill>
              </a:rPr>
              <a:t>▸ Tight allow-list: </a:t>
            </a:r>
            <a:r>
              <a:rPr sz="1900">
                <a:solidFill>
                  <a:srgbClr val="222B38"/>
                </a:solidFill>
              </a:rPr>
              <a:t>keep API_ALLOWED_PREFIXES as narrow as possible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1F3A"/>
                </a:solidFill>
              </a:rPr>
              <a:t>▸ Automate: </a:t>
            </a:r>
            <a:r>
              <a:rPr sz="1900">
                <a:solidFill>
                  <a:srgbClr val="222B38"/>
                </a:solidFill>
              </a:rPr>
              <a:t>schedule FETCH + EXECUTE IMMEDIATE with a Snowflake TASK for CI/CD-style deploys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0B1F3A"/>
                </a:solidFill>
              </a:rPr>
              <a:t>▸ Use tags for releases: </a:t>
            </a:r>
            <a:r>
              <a:rPr sz="1900">
                <a:solidFill>
                  <a:srgbClr val="222B38"/>
                </a:solidFill>
              </a:rPr>
              <a:t>run from /tags/v1.0/ instead of /branches/main/ in production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Thanks for Watching!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29B5E8"/>
                </a:solidFill>
                <a:latin typeface="Calibri"/>
              </a:rPr>
              <a:t>Like  •  Subscribe  •  Comment your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4297680"/>
            <a:ext cx="4480560" cy="91440"/>
          </a:xfrm>
          <a:prstGeom prst="rect">
            <a:avLst/>
          </a:prstGeom>
          <a:solidFill>
            <a:srgbClr val="F05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